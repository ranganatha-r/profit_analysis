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68" r:id="rId5"/>
    <p:sldId id="259" r:id="rId6"/>
    <p:sldId id="260" r:id="rId7"/>
    <p:sldId id="261" r:id="rId8"/>
    <p:sldId id="258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D0A50-45C7-0C25-5131-F5634E3FB8DC}" v="2" dt="2025-12-04T06:53:17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ganatha R" userId="d15ccb4e81e072e9" providerId="Windows Live" clId="Web-{16DD0A50-45C7-0C25-5131-F5634E3FB8DC}"/>
    <pc:docChg chg="modSld">
      <pc:chgData name="Ranganatha R" userId="d15ccb4e81e072e9" providerId="Windows Live" clId="Web-{16DD0A50-45C7-0C25-5131-F5634E3FB8DC}" dt="2025-12-04T06:53:17.971" v="1" actId="20577"/>
      <pc:docMkLst>
        <pc:docMk/>
      </pc:docMkLst>
      <pc:sldChg chg="delSp modSp">
        <pc:chgData name="Ranganatha R" userId="d15ccb4e81e072e9" providerId="Windows Live" clId="Web-{16DD0A50-45C7-0C25-5131-F5634E3FB8DC}" dt="2025-12-04T06:53:17.971" v="1" actId="20577"/>
        <pc:sldMkLst>
          <pc:docMk/>
          <pc:sldMk cId="3855434927" sldId="265"/>
        </pc:sldMkLst>
        <pc:spChg chg="mod">
          <ac:chgData name="Ranganatha R" userId="d15ccb4e81e072e9" providerId="Windows Live" clId="Web-{16DD0A50-45C7-0C25-5131-F5634E3FB8DC}" dt="2025-12-04T06:53:17.971" v="1" actId="20577"/>
          <ac:spMkLst>
            <pc:docMk/>
            <pc:sldMk cId="3855434927" sldId="265"/>
            <ac:spMk id="3" creationId="{D3E4B7F9-75E0-F1AE-702C-C151BB9B9359}"/>
          </ac:spMkLst>
        </pc:spChg>
        <pc:spChg chg="del">
          <ac:chgData name="Ranganatha R" userId="d15ccb4e81e072e9" providerId="Windows Live" clId="Web-{16DD0A50-45C7-0C25-5131-F5634E3FB8DC}" dt="2025-12-04T06:52:55.220" v="0"/>
          <ac:spMkLst>
            <pc:docMk/>
            <pc:sldMk cId="3855434927" sldId="265"/>
            <ac:spMk id="8" creationId="{2B79692A-1D58-6EFA-DBCB-7A36CE2562B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78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23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749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98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031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8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703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067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505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146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336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0100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703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98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687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762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224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608E613-538A-49E9-9645-43CF5B947A4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7E83-B1E5-4084-ACE2-478A55E5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3515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hyperlink" Target="https://onedrive.live.com/personal/d15ccb4e81e072e9/_layouts/15/Doc.aspx?sourcedoc=%7BA0F64B8D-63E4-47A7-A100-51305425E3CA%7D&amp;file=PRDA-01%20P%20A.docx&amp;action=default&amp;mobileredirect=tru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u/c/d15ccb4e81e072e9/EbtHlrKbxJBFvtpSIi0pmkYBivaSHQp738k_9lCj6SYeZg?e=UrYBu6" TargetMode="External"/><Relationship Id="rId2" Type="http://schemas.openxmlformats.org/officeDocument/2006/relationships/hyperlink" Target="https://onedrive.live.com/personal/d15ccb4e81e072e9/_layouts/15/Doc.aspx?sourcedoc=%7B82CCF415-706A-476B-BB0D-F9D36D0FBD90%7D&amp;file=PRDA-01%20P%20A.xls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16299-3E82-56DF-BFF9-70E9FD097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455" y="584610"/>
            <a:ext cx="9034075" cy="3329581"/>
          </a:xfrm>
        </p:spPr>
        <p:txBody>
          <a:bodyPr>
            <a:normAutofit fontScale="90000"/>
          </a:bodyPr>
          <a:lstStyle/>
          <a:p>
            <a:r>
              <a:rPr lang="en-IN" b="1"/>
              <a:t>Start-Up Profit Analysis </a:t>
            </a:r>
            <a:br>
              <a:rPr lang="en-IN" b="1"/>
            </a:br>
            <a:r>
              <a:rPr lang="en-US" sz="2700">
                <a:solidFill>
                  <a:schemeClr val="tx1"/>
                </a:solidFill>
              </a:rPr>
              <a:t>PRDA-01</a:t>
            </a:r>
            <a:br>
              <a:rPr lang="en-IN"/>
            </a:b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1D00BB-BE2B-04A8-C3FD-2D5EA349B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176" y="3834987"/>
            <a:ext cx="8825658" cy="1716727"/>
          </a:xfrm>
        </p:spPr>
        <p:txBody>
          <a:bodyPr>
            <a:normAutofit/>
          </a:bodyPr>
          <a:lstStyle/>
          <a:p>
            <a:pPr algn="l"/>
            <a:r>
              <a:rPr lang="en-IN" sz="1500" u="sng">
                <a:solidFill>
                  <a:schemeClr val="tx2">
                    <a:lumMod val="50000"/>
                  </a:schemeClr>
                </a:solidFill>
              </a:rPr>
              <a:t>Name:</a:t>
            </a:r>
            <a:r>
              <a:rPr lang="en-IN" sz="1500"/>
              <a:t> </a:t>
            </a:r>
            <a:r>
              <a:rPr lang="en-IN"/>
              <a:t>Ranganatha R</a:t>
            </a:r>
          </a:p>
          <a:p>
            <a:pPr algn="l"/>
            <a:r>
              <a:rPr lang="en-IN" sz="1500" u="sng">
                <a:solidFill>
                  <a:schemeClr val="tx2">
                    <a:lumMod val="50000"/>
                  </a:schemeClr>
                </a:solidFill>
              </a:rPr>
              <a:t>Batch ID:</a:t>
            </a:r>
            <a:r>
              <a:rPr lang="en-IN" sz="150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IN"/>
              <a:t>11-AUG-25-CDA-BUN-040-WDM1130-BAN</a:t>
            </a:r>
          </a:p>
          <a:p>
            <a:pPr algn="l"/>
            <a:r>
              <a:rPr lang="en-IN" sz="1500" u="sng">
                <a:solidFill>
                  <a:schemeClr val="tx2">
                    <a:lumMod val="50000"/>
                  </a:schemeClr>
                </a:solidFill>
              </a:rPr>
              <a:t>Project Team ID:</a:t>
            </a:r>
            <a:r>
              <a:rPr lang="en-IN"/>
              <a:t> PTID-CDA-NOV-25-934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98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1F138-B08C-307B-1A66-EDEBEEEE8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64601-5914-F661-72A2-D0926428C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224" y="2435473"/>
            <a:ext cx="11290041" cy="4195481"/>
          </a:xfrm>
        </p:spPr>
        <p:txBody>
          <a:bodyPr/>
          <a:lstStyle/>
          <a:p>
            <a:pPr algn="just"/>
            <a:r>
              <a:rPr lang="en-US" sz="2250">
                <a:latin typeface="Comic Sans MS" panose="030F0702030302020204" pitchFamily="66" charset="0"/>
              </a:rPr>
              <a:t>The main objective of this project is to understand how the money spent on </a:t>
            </a:r>
            <a:r>
              <a:rPr lang="en-US" sz="2250" b="1">
                <a:latin typeface="Comic Sans MS" panose="030F0702030302020204" pitchFamily="66" charset="0"/>
              </a:rPr>
              <a:t>R&amp;D, Administration, and Marketing</a:t>
            </a:r>
            <a:r>
              <a:rPr lang="en-US" sz="2250">
                <a:latin typeface="Comic Sans MS" panose="030F0702030302020204" pitchFamily="66" charset="0"/>
              </a:rPr>
              <a:t> affects the profit of </a:t>
            </a:r>
            <a:r>
              <a:rPr lang="en-US" sz="2250" b="1">
                <a:latin typeface="Comic Sans MS" panose="030F0702030302020204" pitchFamily="66" charset="0"/>
              </a:rPr>
              <a:t>50 startups</a:t>
            </a:r>
            <a:r>
              <a:rPr lang="en-US" sz="2250">
                <a:latin typeface="Comic Sans MS" panose="030F0702030302020204" pitchFamily="66" charset="0"/>
              </a:rPr>
              <a:t>. We collected the data from </a:t>
            </a:r>
            <a:r>
              <a:rPr lang="en-US" sz="2250" b="1">
                <a:latin typeface="Comic Sans MS" panose="030F0702030302020204" pitchFamily="66" charset="0"/>
              </a:rPr>
              <a:t>SQL</a:t>
            </a:r>
            <a:r>
              <a:rPr lang="en-US" sz="2250">
                <a:latin typeface="Comic Sans MS" panose="030F0702030302020204" pitchFamily="66" charset="0"/>
              </a:rPr>
              <a:t>, cleaned it, did </a:t>
            </a:r>
            <a:r>
              <a:rPr lang="en-US" sz="2250" b="1">
                <a:latin typeface="Comic Sans MS" panose="030F0702030302020204" pitchFamily="66" charset="0"/>
              </a:rPr>
              <a:t>regression analysis </a:t>
            </a:r>
            <a:r>
              <a:rPr lang="en-US" sz="2250">
                <a:latin typeface="Comic Sans MS" panose="030F0702030302020204" pitchFamily="66" charset="0"/>
              </a:rPr>
              <a:t>to predict profits, and predicting profits for given scenarios, and also built a </a:t>
            </a:r>
            <a:r>
              <a:rPr lang="en-US" sz="2250" b="1">
                <a:latin typeface="Comic Sans MS" panose="030F0702030302020204" pitchFamily="66" charset="0"/>
              </a:rPr>
              <a:t>Power BI dashboard</a:t>
            </a:r>
            <a:r>
              <a:rPr lang="en-US" sz="2250">
                <a:latin typeface="Comic Sans MS" panose="030F0702030302020204" pitchFamily="66" charset="0"/>
              </a:rPr>
              <a:t> to visualize the patterns. The </a:t>
            </a:r>
            <a:r>
              <a:rPr lang="en-US" sz="2250" b="1">
                <a:latin typeface="Comic Sans MS" panose="030F0702030302020204" pitchFamily="66" charset="0"/>
              </a:rPr>
              <a:t>purpose</a:t>
            </a:r>
            <a:r>
              <a:rPr lang="en-US" sz="2250">
                <a:latin typeface="Comic Sans MS" panose="030F0702030302020204" pitchFamily="66" charset="0"/>
              </a:rPr>
              <a:t> is to find which </a:t>
            </a:r>
            <a:r>
              <a:rPr lang="en-US" sz="2250" b="1">
                <a:latin typeface="Comic Sans MS" panose="030F0702030302020204" pitchFamily="66" charset="0"/>
              </a:rPr>
              <a:t>spending areas</a:t>
            </a:r>
            <a:r>
              <a:rPr lang="en-US" sz="2250">
                <a:latin typeface="Comic Sans MS" panose="030F0702030302020204" pitchFamily="66" charset="0"/>
              </a:rPr>
              <a:t> help profit the most, identify where improvement is needed, and give clear suggestions to help the company spend more wisely and improve overall results.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963C3-BD72-724C-E240-0278A3A13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Source</a:t>
            </a:r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91C4B6-D01D-EE9B-D343-38AD122422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562" y="2805846"/>
            <a:ext cx="6459166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dirty="0">
                <a:latin typeface="Comic Sans MS" panose="030F0702030302020204" pitchFamily="66" charset="0"/>
              </a:rPr>
              <a:t>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he dataset was taken from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MySQL database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provided by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institute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, which have Table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startup </a:t>
            </a:r>
            <a:r>
              <a:rPr lang="en-US" altLang="en-US" sz="2200" dirty="0">
                <a:latin typeface="Comic Sans MS" panose="030F0702030302020204" pitchFamily="66" charset="0"/>
              </a:rPr>
              <a:t>in Database </a:t>
            </a:r>
            <a:r>
              <a:rPr lang="en-US" altLang="en-US" sz="2200" dirty="0" err="1">
                <a:latin typeface="Comic Sans MS" panose="030F0702030302020204" pitchFamily="66" charset="0"/>
              </a:rPr>
              <a:t>Profit_Analysis</a:t>
            </a:r>
            <a:r>
              <a:rPr lang="en-US" altLang="en-US" sz="2200" dirty="0">
                <a:latin typeface="Comic Sans MS" panose="030F0702030302020204" pitchFamily="66" charset="0"/>
              </a:rPr>
              <a:t>. It has 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otal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50 rows and 5 columns namely R&amp;D Spend, Administration, Marketing Spend, State, Profit</a:t>
            </a:r>
            <a:r>
              <a:rPr lang="en-US" altLang="en-US" sz="2200" dirty="0">
                <a:latin typeface="Comic Sans MS" panose="030F0702030302020204" pitchFamily="66" charset="0"/>
              </a:rPr>
              <a:t>.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Later Data was exported 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CSV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for cleaning and analysis.</a:t>
            </a:r>
          </a:p>
        </p:txBody>
      </p:sp>
      <p:pic>
        <p:nvPicPr>
          <p:cNvPr id="6" name="Graphic 5" descr="Database">
            <a:extLst>
              <a:ext uri="{FF2B5EF4-FFF2-40B4-BE49-F238E27FC236}">
                <a16:creationId xmlns:a16="http://schemas.microsoft.com/office/drawing/2014/main" id="{A79B46BB-5C84-5834-1650-723D05F4C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5073" y="2232499"/>
            <a:ext cx="3205264" cy="32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822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27F20-77EA-8DC1-FD48-96D16883B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781" y="416098"/>
            <a:ext cx="1621228" cy="891852"/>
          </a:xfrm>
        </p:spPr>
        <p:txBody>
          <a:bodyPr/>
          <a:lstStyle/>
          <a:p>
            <a:r>
              <a:rPr lang="en-US"/>
              <a:t>Tasks</a:t>
            </a:r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565F7D-6337-C68C-48A3-F95AFCB3E8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8621" y="1533465"/>
            <a:ext cx="7296539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Got the data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the given SQL credentials and inspected the table and contents.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Exported the data to CSV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performed basic cleaning.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Regression Analysis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understand spending impact on profit.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Predicted Profit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given input scenarios using the regression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Power BI Dashboard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relevant KPIs and visuals.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Derived Insights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all visuals.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the final Presentation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summarizing the complete project.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4E6C4B-02F7-7A2C-8036-A8CD300DE38C}"/>
              </a:ext>
            </a:extLst>
          </p:cNvPr>
          <p:cNvSpPr txBox="1"/>
          <p:nvPr/>
        </p:nvSpPr>
        <p:spPr>
          <a:xfrm>
            <a:off x="4571998" y="6529517"/>
            <a:ext cx="37695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/>
              <a:t>For detailed steps, click here: </a:t>
            </a:r>
            <a:r>
              <a:rPr lang="en-IN" sz="1200">
                <a:hlinkClick r:id="rId2"/>
              </a:rPr>
              <a:t>PRDA-01 P A.docx</a:t>
            </a:r>
            <a:endParaRPr lang="en-US" altLang="en-US" sz="1200" b="1" i="1"/>
          </a:p>
          <a:p>
            <a:endParaRPr lang="en-IN"/>
          </a:p>
        </p:txBody>
      </p:sp>
      <p:pic>
        <p:nvPicPr>
          <p:cNvPr id="7" name="Graphic 6" descr="Presentation with pie chart">
            <a:extLst>
              <a:ext uri="{FF2B5EF4-FFF2-40B4-BE49-F238E27FC236}">
                <a16:creationId xmlns:a16="http://schemas.microsoft.com/office/drawing/2014/main" id="{6F92037C-7BFD-FC3D-E07C-302AF175B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469" y="4901757"/>
            <a:ext cx="1260000" cy="1260000"/>
          </a:xfrm>
          <a:prstGeom prst="rect">
            <a:avLst/>
          </a:prstGeom>
        </p:spPr>
      </p:pic>
      <p:pic>
        <p:nvPicPr>
          <p:cNvPr id="9" name="Graphic 8" descr="Database">
            <a:extLst>
              <a:ext uri="{FF2B5EF4-FFF2-40B4-BE49-F238E27FC236}">
                <a16:creationId xmlns:a16="http://schemas.microsoft.com/office/drawing/2014/main" id="{F2F451D9-B886-3DC1-6A06-3F49C41832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3763" y="1683844"/>
            <a:ext cx="1260000" cy="1260000"/>
          </a:xfrm>
          <a:prstGeom prst="rect">
            <a:avLst/>
          </a:prstGeom>
        </p:spPr>
      </p:pic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1FB85D49-8007-31D4-AEB2-7FF0BE789E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7174" y="3276810"/>
            <a:ext cx="1260000" cy="1260000"/>
          </a:xfrm>
          <a:prstGeom prst="rect">
            <a:avLst/>
          </a:prstGeom>
        </p:spPr>
      </p:pic>
      <p:pic>
        <p:nvPicPr>
          <p:cNvPr id="13" name="Graphic 12" descr="Bar graph with upward trend">
            <a:extLst>
              <a:ext uri="{FF2B5EF4-FFF2-40B4-BE49-F238E27FC236}">
                <a16:creationId xmlns:a16="http://schemas.microsoft.com/office/drawing/2014/main" id="{9A6CBBF9-5A00-44C9-6EC5-7AA92C8414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15469" y="3346925"/>
            <a:ext cx="1260000" cy="1260000"/>
          </a:xfrm>
          <a:prstGeom prst="rect">
            <a:avLst/>
          </a:prstGeom>
        </p:spPr>
      </p:pic>
      <p:pic>
        <p:nvPicPr>
          <p:cNvPr id="15" name="Graphic 14" descr="Head with gears">
            <a:extLst>
              <a:ext uri="{FF2B5EF4-FFF2-40B4-BE49-F238E27FC236}">
                <a16:creationId xmlns:a16="http://schemas.microsoft.com/office/drawing/2014/main" id="{206AF93E-D9D7-D204-159F-EF17EEF9EC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55020" y="3230157"/>
            <a:ext cx="1260000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43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52F3-08E9-5420-7616-4DA097B3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REGRESSION ANALYSIS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894760-DD27-4A2F-7AAD-DBF20F07A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40" y="1331119"/>
            <a:ext cx="11560767" cy="5200310"/>
          </a:xfrm>
        </p:spPr>
      </p:pic>
    </p:spTree>
    <p:extLst>
      <p:ext uri="{BB962C8B-B14F-4D97-AF65-F5344CB8AC3E}">
        <p14:creationId xmlns:p14="http://schemas.microsoft.com/office/powerpoint/2010/main" val="4134449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2806D-C85C-AECD-F653-0D306DF34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PREDICTED RESULTS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B18B78-E3AF-E2A4-B6FB-A56351DA1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94" y="1375985"/>
            <a:ext cx="11542106" cy="5286072"/>
          </a:xfrm>
        </p:spPr>
      </p:pic>
    </p:spTree>
    <p:extLst>
      <p:ext uri="{BB962C8B-B14F-4D97-AF65-F5344CB8AC3E}">
        <p14:creationId xmlns:p14="http://schemas.microsoft.com/office/powerpoint/2010/main" val="4294081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3320D-30E6-C87C-BC81-30405C59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Power BI Dashboard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7DA867-78F6-4013-4E1D-9783E98132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18" y="1231641"/>
            <a:ext cx="11616613" cy="5439747"/>
          </a:xfrm>
        </p:spPr>
      </p:pic>
    </p:spTree>
    <p:extLst>
      <p:ext uri="{BB962C8B-B14F-4D97-AF65-F5344CB8AC3E}">
        <p14:creationId xmlns:p14="http://schemas.microsoft.com/office/powerpoint/2010/main" val="2515244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54E95-754F-5224-3C20-81E1ED101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99" y="568698"/>
            <a:ext cx="9404723" cy="1400530"/>
          </a:xfrm>
        </p:spPr>
        <p:txBody>
          <a:bodyPr/>
          <a:lstStyle/>
          <a:p>
            <a:r>
              <a:rPr lang="en-US"/>
              <a:t>OVERVIEW</a:t>
            </a:r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2D2EF1-9346-A431-9AEE-5EDF455BC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8" t="1017" r="1818" b="1017"/>
          <a:stretch>
            <a:fillRect/>
          </a:stretch>
        </p:blipFill>
        <p:spPr>
          <a:xfrm>
            <a:off x="5477069" y="1268963"/>
            <a:ext cx="6447453" cy="539309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23A48-B3BD-CD6F-0E29-C69017EC4009}"/>
              </a:ext>
            </a:extLst>
          </p:cNvPr>
          <p:cNvSpPr txBox="1"/>
          <p:nvPr/>
        </p:nvSpPr>
        <p:spPr>
          <a:xfrm>
            <a:off x="179312" y="2957542"/>
            <a:ext cx="515983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latin typeface="Comic Sans MS" panose="030F0702030302020204" pitchFamily="66" charset="0"/>
              </a:rPr>
              <a:t>This Dashboard shows how </a:t>
            </a:r>
            <a:r>
              <a:rPr lang="en-US" sz="2500" b="1">
                <a:latin typeface="Comic Sans MS" panose="030F0702030302020204" pitchFamily="66" charset="0"/>
              </a:rPr>
              <a:t>Marketing</a:t>
            </a:r>
            <a:r>
              <a:rPr lang="en-US" sz="2500">
                <a:latin typeface="Comic Sans MS" panose="030F0702030302020204" pitchFamily="66" charset="0"/>
              </a:rPr>
              <a:t>, </a:t>
            </a:r>
            <a:r>
              <a:rPr lang="en-US" sz="2500" b="1">
                <a:latin typeface="Comic Sans MS" panose="030F0702030302020204" pitchFamily="66" charset="0"/>
              </a:rPr>
              <a:t>R&amp;D</a:t>
            </a:r>
            <a:r>
              <a:rPr lang="en-US" sz="2500">
                <a:latin typeface="Comic Sans MS" panose="030F0702030302020204" pitchFamily="66" charset="0"/>
              </a:rPr>
              <a:t>, and </a:t>
            </a:r>
            <a:r>
              <a:rPr lang="en-US" sz="2500" b="1">
                <a:latin typeface="Comic Sans MS" panose="030F0702030302020204" pitchFamily="66" charset="0"/>
              </a:rPr>
              <a:t>Administration</a:t>
            </a:r>
            <a:r>
              <a:rPr lang="en-US" sz="2500">
                <a:latin typeface="Comic Sans MS" panose="030F0702030302020204" pitchFamily="66" charset="0"/>
              </a:rPr>
              <a:t> spending affect the </a:t>
            </a:r>
            <a:r>
              <a:rPr lang="en-US" sz="2500" b="1">
                <a:latin typeface="Comic Sans MS" panose="030F0702030302020204" pitchFamily="66" charset="0"/>
              </a:rPr>
              <a:t>Profit</a:t>
            </a:r>
            <a:r>
              <a:rPr lang="en-US" sz="2500">
                <a:latin typeface="Comic Sans MS" panose="030F0702030302020204" pitchFamily="66" charset="0"/>
              </a:rPr>
              <a:t> of </a:t>
            </a:r>
            <a:r>
              <a:rPr lang="en-US" sz="2500" b="1">
                <a:latin typeface="Comic Sans MS" panose="030F0702030302020204" pitchFamily="66" charset="0"/>
              </a:rPr>
              <a:t>50 Startups</a:t>
            </a:r>
            <a:r>
              <a:rPr lang="en-US" sz="2500">
                <a:latin typeface="Comic Sans MS" panose="030F0702030302020204" pitchFamily="66" charset="0"/>
              </a:rPr>
              <a:t> in </a:t>
            </a:r>
            <a:r>
              <a:rPr lang="en-US" sz="2500" b="1">
                <a:latin typeface="Comic Sans MS" panose="030F0702030302020204" pitchFamily="66" charset="0"/>
              </a:rPr>
              <a:t>New York</a:t>
            </a:r>
            <a:r>
              <a:rPr lang="en-US" sz="2500">
                <a:latin typeface="Comic Sans MS" panose="030F0702030302020204" pitchFamily="66" charset="0"/>
              </a:rPr>
              <a:t>, </a:t>
            </a:r>
            <a:r>
              <a:rPr lang="en-US" sz="2500" b="1">
                <a:latin typeface="Comic Sans MS" panose="030F0702030302020204" pitchFamily="66" charset="0"/>
              </a:rPr>
              <a:t>California</a:t>
            </a:r>
            <a:r>
              <a:rPr lang="en-US" sz="2500">
                <a:latin typeface="Comic Sans MS" panose="030F0702030302020204" pitchFamily="66" charset="0"/>
              </a:rPr>
              <a:t> and </a:t>
            </a:r>
            <a:r>
              <a:rPr lang="en-US" sz="2500" b="1">
                <a:latin typeface="Comic Sans MS" panose="030F0702030302020204" pitchFamily="66" charset="0"/>
              </a:rPr>
              <a:t>Florida</a:t>
            </a:r>
            <a:r>
              <a:rPr lang="en-US" sz="2500">
                <a:latin typeface="Comic Sans MS" panose="030F0702030302020204" pitchFamily="66" charset="0"/>
              </a:rPr>
              <a:t>.</a:t>
            </a:r>
            <a:endParaRPr lang="en-IN" sz="250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662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1E6-04DB-D79C-B906-EDD6E9C8E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87" y="546024"/>
            <a:ext cx="9404723" cy="1400530"/>
          </a:xfrm>
        </p:spPr>
        <p:txBody>
          <a:bodyPr/>
          <a:lstStyle/>
          <a:p>
            <a:r>
              <a:rPr lang="en-US"/>
              <a:t>Insights</a:t>
            </a: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5DCA0A-EAE2-0620-A18C-EE8D08C7EE5F}"/>
              </a:ext>
            </a:extLst>
          </p:cNvPr>
          <p:cNvSpPr txBox="1"/>
          <p:nvPr/>
        </p:nvSpPr>
        <p:spPr>
          <a:xfrm>
            <a:off x="251358" y="2223233"/>
            <a:ext cx="972483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>
                <a:solidFill>
                  <a:srgbClr val="E6E6E6"/>
                </a:solidFill>
                <a:effectLst/>
                <a:latin typeface="Comic Sans MS" panose="030F0702030302020204" pitchFamily="66" charset="0"/>
              </a:rPr>
              <a:t>Profit generally increases with higher spending.</a:t>
            </a:r>
            <a:endParaRPr lang="en-US" sz="2400">
              <a:latin typeface="Comic Sans MS" panose="030F0702030302020204" pitchFamily="66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>
                <a:solidFill>
                  <a:srgbClr val="E6E6E6"/>
                </a:solidFill>
                <a:effectLst/>
                <a:latin typeface="Comic Sans MS" panose="030F0702030302020204" pitchFamily="66" charset="0"/>
              </a:rPr>
              <a:t>Marketing</a:t>
            </a:r>
            <a:r>
              <a:rPr lang="en-US" sz="2400">
                <a:solidFill>
                  <a:srgbClr val="E6E6E6"/>
                </a:solidFill>
                <a:effectLst/>
                <a:latin typeface="Comic Sans MS" panose="030F0702030302020204" pitchFamily="66" charset="0"/>
              </a:rPr>
              <a:t> has the strongest impact on profit growth.</a:t>
            </a:r>
            <a:endParaRPr lang="en-US" sz="2400">
              <a:latin typeface="Comic Sans MS" panose="030F0702030302020204" pitchFamily="66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>
                <a:solidFill>
                  <a:srgbClr val="E6E6E6"/>
                </a:solidFill>
                <a:effectLst/>
                <a:latin typeface="Comic Sans MS" panose="030F0702030302020204" pitchFamily="66" charset="0"/>
              </a:rPr>
              <a:t>R&amp;D</a:t>
            </a:r>
            <a:r>
              <a:rPr lang="en-US" sz="2400">
                <a:solidFill>
                  <a:srgbClr val="E6E6E6"/>
                </a:solidFill>
                <a:effectLst/>
                <a:latin typeface="Comic Sans MS" panose="030F0702030302020204" pitchFamily="66" charset="0"/>
              </a:rPr>
              <a:t> gives steady returns; </a:t>
            </a:r>
            <a:r>
              <a:rPr lang="en-US" sz="2400" b="1">
                <a:solidFill>
                  <a:srgbClr val="E6E6E6"/>
                </a:solidFill>
                <a:effectLst/>
                <a:latin typeface="Comic Sans MS" panose="030F0702030302020204" pitchFamily="66" charset="0"/>
              </a:rPr>
              <a:t>Admin</a:t>
            </a:r>
            <a:r>
              <a:rPr lang="en-US" sz="2400">
                <a:solidFill>
                  <a:srgbClr val="E6E6E6"/>
                </a:solidFill>
                <a:effectLst/>
                <a:latin typeface="Comic Sans MS" panose="030F0702030302020204" pitchFamily="66" charset="0"/>
              </a:rPr>
              <a:t> impact is inconsistent.</a:t>
            </a:r>
            <a:endParaRPr lang="en-US" sz="2400">
              <a:latin typeface="Comic Sans MS" panose="030F0702030302020204" pitchFamily="66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>
                <a:solidFill>
                  <a:srgbClr val="E6E6E6"/>
                </a:solidFill>
                <a:effectLst/>
                <a:latin typeface="Comic Sans MS" panose="030F0702030302020204" pitchFamily="66" charset="0"/>
              </a:rPr>
              <a:t>Spending distribution: Marketing 52%, Admin 30%, R&amp;D 18%.</a:t>
            </a:r>
            <a:endParaRPr lang="en-US" sz="2400">
              <a:latin typeface="Comic Sans MS" panose="030F0702030302020204" pitchFamily="66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>
                <a:solidFill>
                  <a:srgbClr val="E6E6E6"/>
                </a:solidFill>
                <a:effectLst/>
                <a:latin typeface="Comic Sans MS" panose="030F0702030302020204" pitchFamily="66" charset="0"/>
              </a:rPr>
              <a:t>Average profit is ~112K, indicating early-stage but healthy startups.</a:t>
            </a:r>
            <a:endParaRPr lang="en-US" sz="2400">
              <a:latin typeface="Comic Sans MS" panose="030F0702030302020204" pitchFamily="66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>
                <a:solidFill>
                  <a:srgbClr val="E6E6E6"/>
                </a:solidFill>
                <a:effectLst/>
                <a:latin typeface="Comic Sans MS" panose="030F0702030302020204" pitchFamily="66" charset="0"/>
              </a:rPr>
              <a:t>New York startups</a:t>
            </a:r>
            <a:r>
              <a:rPr lang="en-US" sz="2400">
                <a:solidFill>
                  <a:srgbClr val="E6E6E6"/>
                </a:solidFill>
                <a:effectLst/>
                <a:latin typeface="Comic Sans MS" panose="030F0702030302020204" pitchFamily="66" charset="0"/>
              </a:rPr>
              <a:t> earn the highest profits. </a:t>
            </a:r>
            <a:r>
              <a:rPr lang="en-US" sz="2400">
                <a:solidFill>
                  <a:srgbClr val="CCCCCC"/>
                </a:solidFill>
                <a:effectLst/>
                <a:latin typeface="Comic Sans MS" panose="030F0702030302020204" pitchFamily="66" charset="0"/>
              </a:rPr>
              <a:t>New York is slightly ahead of Florida and California, but all three states follow similar spending patterns.</a:t>
            </a:r>
            <a:endParaRPr lang="en-US" sz="240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436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AF67A-135A-8A61-0F2E-5A215B69D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74" y="396734"/>
            <a:ext cx="9404723" cy="1400530"/>
          </a:xfrm>
        </p:spPr>
        <p:txBody>
          <a:bodyPr/>
          <a:lstStyle/>
          <a:p>
            <a:r>
              <a:rPr lang="en-US"/>
              <a:t>Supporting Visuals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56C7FA-6DBE-73EB-6318-389F03B3A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5" t="2257" r="10841"/>
          <a:stretch>
            <a:fillRect/>
          </a:stretch>
        </p:blipFill>
        <p:spPr>
          <a:xfrm>
            <a:off x="158620" y="1250304"/>
            <a:ext cx="11877870" cy="5458406"/>
          </a:xfrm>
        </p:spPr>
      </p:pic>
    </p:spTree>
    <p:extLst>
      <p:ext uri="{BB962C8B-B14F-4D97-AF65-F5344CB8AC3E}">
        <p14:creationId xmlns:p14="http://schemas.microsoft.com/office/powerpoint/2010/main" val="254190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D011E-1D77-1C3D-1909-9D2A79D9D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403A2-B566-7581-86E8-619243E5E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500">
                <a:latin typeface="Comic Sans MS" panose="030F0702030302020204" pitchFamily="66" charset="0"/>
              </a:rPr>
              <a:t>Increase </a:t>
            </a:r>
            <a:r>
              <a:rPr lang="en-US" sz="2500" b="1">
                <a:latin typeface="Comic Sans MS" panose="030F0702030302020204" pitchFamily="66" charset="0"/>
              </a:rPr>
              <a:t>Marketing</a:t>
            </a:r>
            <a:r>
              <a:rPr lang="en-US" sz="2500">
                <a:latin typeface="Comic Sans MS" panose="030F0702030302020204" pitchFamily="66" charset="0"/>
              </a:rPr>
              <a:t> investment to boost profit.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>
                <a:latin typeface="Comic Sans MS" panose="030F0702030302020204" pitchFamily="66" charset="0"/>
              </a:rPr>
              <a:t>Optimize </a:t>
            </a:r>
            <a:r>
              <a:rPr lang="en-US" sz="2500" b="1">
                <a:latin typeface="Comic Sans MS" panose="030F0702030302020204" pitchFamily="66" charset="0"/>
              </a:rPr>
              <a:t>Admin costs</a:t>
            </a:r>
            <a:r>
              <a:rPr lang="en-US" sz="2500">
                <a:latin typeface="Comic Sans MS" panose="030F0702030302020204" pitchFamily="66" charset="0"/>
              </a:rPr>
              <a:t> for efficiency.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>
                <a:latin typeface="Comic Sans MS" panose="030F0702030302020204" pitchFamily="66" charset="0"/>
              </a:rPr>
              <a:t>Maintain or slightly </a:t>
            </a:r>
            <a:r>
              <a:rPr lang="en-US" sz="2500" b="1">
                <a:latin typeface="Comic Sans MS" panose="030F0702030302020204" pitchFamily="66" charset="0"/>
              </a:rPr>
              <a:t>increase R&amp;D</a:t>
            </a:r>
            <a:r>
              <a:rPr lang="en-US" sz="2500">
                <a:latin typeface="Comic Sans MS" panose="030F0702030302020204" pitchFamily="66" charset="0"/>
              </a:rPr>
              <a:t> spending for consistent growth.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>
                <a:latin typeface="Comic Sans MS" panose="030F0702030302020204" pitchFamily="66" charset="0"/>
              </a:rPr>
              <a:t>Learn from </a:t>
            </a:r>
            <a:r>
              <a:rPr lang="en-US" sz="2500" b="1">
                <a:latin typeface="Comic Sans MS" panose="030F0702030302020204" pitchFamily="66" charset="0"/>
              </a:rPr>
              <a:t>New York</a:t>
            </a:r>
            <a:r>
              <a:rPr lang="en-US" sz="2500">
                <a:latin typeface="Comic Sans MS" panose="030F0702030302020204" pitchFamily="66" charset="0"/>
              </a:rPr>
              <a:t> startups successful strategies.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b="1">
                <a:latin typeface="Comic Sans MS" panose="030F0702030302020204" pitchFamily="66" charset="0"/>
              </a:rPr>
              <a:t>Rebalance spending</a:t>
            </a:r>
            <a:r>
              <a:rPr lang="en-US" sz="2500">
                <a:latin typeface="Comic Sans MS" panose="030F0702030302020204" pitchFamily="66" charset="0"/>
              </a:rPr>
              <a:t> towards high-impact areas (Marketing and R&amp;D).</a:t>
            </a:r>
            <a:endParaRPr lang="en-IN" sz="250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5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023DD-0BDC-35C0-4A8F-5B7712B4E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4B7F9-75E0-F1AE-702C-C151BB9B9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210" y="1985866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Power BI Dashboard:</a:t>
            </a:r>
          </a:p>
          <a:p>
            <a:r>
              <a:rPr lang="en-US" sz="1500" i="1" dirty="0">
                <a:solidFill>
                  <a:schemeClr val="tx1">
                    <a:lumMod val="75000"/>
                  </a:schemeClr>
                </a:solidFill>
                <a:latin typeface="Bahnschrift SemiLight Condensed"/>
              </a:rPr>
              <a:t>Click here to download the file:  </a:t>
            </a:r>
            <a:endParaRPr lang="en-US" sz="1500" i="1" dirty="0">
              <a:solidFill>
                <a:schemeClr val="tx1">
                  <a:lumMod val="75000"/>
                </a:schemeClr>
              </a:solidFill>
              <a:latin typeface="Bahnschrift SemiLight Condensed" panose="020B0502040204020203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Excel Works:</a:t>
            </a:r>
          </a:p>
          <a:p>
            <a:r>
              <a:rPr lang="en-IN" sz="1500" dirty="0"/>
              <a:t> </a:t>
            </a:r>
            <a:r>
              <a:rPr lang="en-IN" dirty="0">
                <a:hlinkClick r:id="rId2"/>
              </a:rPr>
              <a:t>PRDA-01 P A.xlsx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2DBA38-9D80-E2B2-3D83-3F4778650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193" y="2396736"/>
            <a:ext cx="20882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PRDA-01 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A.pbix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434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7D8E-3A51-B282-3EBB-2F3732C2A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7" y="2927570"/>
            <a:ext cx="4652866" cy="1002860"/>
          </a:xfrm>
        </p:spPr>
        <p:txBody>
          <a:bodyPr/>
          <a:lstStyle/>
          <a:p>
            <a:r>
              <a:rPr lang="en-US" sz="7000" b="1" i="1">
                <a:solidFill>
                  <a:schemeClr val="tx1"/>
                </a:solidFill>
              </a:rPr>
              <a:t>Thank</a:t>
            </a:r>
            <a:r>
              <a:rPr lang="en-US" sz="6500" b="1" i="1">
                <a:solidFill>
                  <a:schemeClr val="tx1"/>
                </a:solidFill>
              </a:rPr>
              <a:t> </a:t>
            </a:r>
            <a:r>
              <a:rPr lang="en-US" sz="7000" b="1" i="1">
                <a:solidFill>
                  <a:schemeClr val="tx1"/>
                </a:solidFill>
              </a:rPr>
              <a:t>You</a:t>
            </a:r>
            <a:endParaRPr lang="en-IN" sz="7000" b="1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6929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</TotalTime>
  <Words>458</Words>
  <Application>Microsoft Office PowerPoint</Application>
  <PresentationFormat>Widescreen</PresentationFormat>
  <Paragraphs>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Bahnschrift SemiLight Condensed</vt:lpstr>
      <vt:lpstr>Century Gothic</vt:lpstr>
      <vt:lpstr>Comic Sans MS</vt:lpstr>
      <vt:lpstr>Wingdings 3</vt:lpstr>
      <vt:lpstr>Ion</vt:lpstr>
      <vt:lpstr>Start-Up Profit Analysis  PRDA-01 </vt:lpstr>
      <vt:lpstr>OBJECTIVE</vt:lpstr>
      <vt:lpstr>Data Source</vt:lpstr>
      <vt:lpstr>Tasks</vt:lpstr>
      <vt:lpstr>REGRESSION ANALYSIS</vt:lpstr>
      <vt:lpstr>PREDICTED RESULTS</vt:lpstr>
      <vt:lpstr>Power BI Dashboard</vt:lpstr>
      <vt:lpstr>OVERVIEW</vt:lpstr>
      <vt:lpstr>Insights</vt:lpstr>
      <vt:lpstr>Supporting Visuals</vt:lpstr>
      <vt:lpstr>Recommendations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RANGANATHA R</dc:creator>
  <cp:lastModifiedBy>RANGANATHA R</cp:lastModifiedBy>
  <cp:revision>2</cp:revision>
  <dcterms:created xsi:type="dcterms:W3CDTF">2025-11-30T05:15:35Z</dcterms:created>
  <dcterms:modified xsi:type="dcterms:W3CDTF">2025-12-04T08:08:29Z</dcterms:modified>
</cp:coreProperties>
</file>